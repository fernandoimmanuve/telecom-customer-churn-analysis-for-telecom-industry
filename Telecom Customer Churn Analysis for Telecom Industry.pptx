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7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2CC37-CB96-4888-A263-81F07D0FE52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D2E7F-69BE-47C2-B285-8E1B77057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60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D2E7F-69BE-47C2-B285-8E1B770572A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52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67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97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72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4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72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48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89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5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22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76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8470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6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588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578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07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8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8A7A72D-CD60-4020-9B94-1ACB63F3D1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2F143C7-EE60-4C30-B455-C3E9135423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45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1921-FA6E-8D88-7ECD-53D80064A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671" y="0"/>
            <a:ext cx="10746658" cy="2030207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Customer Churn Analysis for Telecom Industry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BBFA7-4166-3AF0-BA13-B37F1D952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2721" y="2989006"/>
            <a:ext cx="9930581" cy="3283974"/>
          </a:xfrm>
        </p:spPr>
        <p:txBody>
          <a:bodyPr>
            <a:normAutofit lnSpcReduction="10000"/>
          </a:bodyPr>
          <a:lstStyle/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Customer Churn Using Machine Learning and Business Analytics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FERNANDO IMMANUVEL  A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30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01D5-8EE8-2C86-91B4-6B6CADE15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9" y="108155"/>
            <a:ext cx="11543070" cy="1997920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customer churn and provide actionable business 	recommendations to improve customer retention.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AEF1-C7C0-3534-67DE-572FFCED8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299" y="2587855"/>
            <a:ext cx="10353762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: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leaving telecom services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loss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acquisition cost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predictive analytics</a:t>
            </a:r>
          </a:p>
          <a:p>
            <a:pPr marL="457200" lvl="1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70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F553-6653-C275-1AFE-BCCAC4D4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73627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6D1A-68C5-A7FF-8C6D-41B098DA4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825625"/>
            <a:ext cx="11385755" cy="3749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                    Data Cleaning</a:t>
            </a:r>
            <a:r>
              <a:rPr lang="en-IN" sz="2400" dirty="0"/>
              <a:t>                    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  </a:t>
            </a:r>
            <a:r>
              <a:rPr lang="en-IN" sz="2400" dirty="0"/>
              <a:t>                      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 	              Machine Learning                      Feature Engineering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         Power BI Dashboard             Business Recommendations     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F0CCD0-7BEE-19D3-0940-B7B9320AEA8A}"/>
              </a:ext>
            </a:extLst>
          </p:cNvPr>
          <p:cNvCxnSpPr>
            <a:cxnSpLocks/>
          </p:cNvCxnSpPr>
          <p:nvPr/>
        </p:nvCxnSpPr>
        <p:spPr>
          <a:xfrm>
            <a:off x="1912375" y="2045111"/>
            <a:ext cx="1056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F5AD0B-F698-5DE0-C50F-E6E14E5CA78A}"/>
              </a:ext>
            </a:extLst>
          </p:cNvPr>
          <p:cNvCxnSpPr>
            <a:cxnSpLocks/>
          </p:cNvCxnSpPr>
          <p:nvPr/>
        </p:nvCxnSpPr>
        <p:spPr>
          <a:xfrm flipV="1">
            <a:off x="5427409" y="2045114"/>
            <a:ext cx="1056967" cy="4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2E244F-F0C5-BC41-FC5E-B08D7873C761}"/>
              </a:ext>
            </a:extLst>
          </p:cNvPr>
          <p:cNvCxnSpPr>
            <a:cxnSpLocks/>
          </p:cNvCxnSpPr>
          <p:nvPr/>
        </p:nvCxnSpPr>
        <p:spPr>
          <a:xfrm>
            <a:off x="8121445" y="2074613"/>
            <a:ext cx="11012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88E91D-347A-BBAC-078B-C60E8DDF74BF}"/>
              </a:ext>
            </a:extLst>
          </p:cNvPr>
          <p:cNvCxnSpPr>
            <a:cxnSpLocks/>
          </p:cNvCxnSpPr>
          <p:nvPr/>
        </p:nvCxnSpPr>
        <p:spPr>
          <a:xfrm>
            <a:off x="10451690" y="2310581"/>
            <a:ext cx="0" cy="111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C8D083-9D74-4D58-1AA6-383A7391BF43}"/>
              </a:ext>
            </a:extLst>
          </p:cNvPr>
          <p:cNvCxnSpPr>
            <a:cxnSpLocks/>
          </p:cNvCxnSpPr>
          <p:nvPr/>
        </p:nvCxnSpPr>
        <p:spPr>
          <a:xfrm flipH="1">
            <a:off x="7531509" y="3645310"/>
            <a:ext cx="11012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991C38-408D-10FD-DE76-301F942CCA70}"/>
              </a:ext>
            </a:extLst>
          </p:cNvPr>
          <p:cNvCxnSpPr/>
          <p:nvPr/>
        </p:nvCxnSpPr>
        <p:spPr>
          <a:xfrm flipH="1">
            <a:off x="3470786" y="3645310"/>
            <a:ext cx="10913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460D45-AE37-9575-0F25-C0572A0A3768}"/>
              </a:ext>
            </a:extLst>
          </p:cNvPr>
          <p:cNvCxnSpPr>
            <a:cxnSpLocks/>
          </p:cNvCxnSpPr>
          <p:nvPr/>
        </p:nvCxnSpPr>
        <p:spPr>
          <a:xfrm>
            <a:off x="1912375" y="3864077"/>
            <a:ext cx="0" cy="1179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03D6A5-DCFF-C332-F302-5409CE89239D}"/>
              </a:ext>
            </a:extLst>
          </p:cNvPr>
          <p:cNvCxnSpPr/>
          <p:nvPr/>
        </p:nvCxnSpPr>
        <p:spPr>
          <a:xfrm>
            <a:off x="3775587" y="5230761"/>
            <a:ext cx="688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5311CD-174B-699A-1703-F44E33EBA9A2}"/>
              </a:ext>
            </a:extLst>
          </p:cNvPr>
          <p:cNvCxnSpPr>
            <a:cxnSpLocks/>
          </p:cNvCxnSpPr>
          <p:nvPr/>
        </p:nvCxnSpPr>
        <p:spPr>
          <a:xfrm>
            <a:off x="7344696" y="5230761"/>
            <a:ext cx="7865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26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4706-7814-D41F-89EF-839AE0327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8C4E7-97CE-E718-E0F8-B5C79AE6B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2395" y="1732449"/>
            <a:ext cx="5060497" cy="4058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:</a:t>
            </a:r>
          </a:p>
          <a:p>
            <a:pPr marL="0" indent="0">
              <a:buNone/>
            </a:pPr>
            <a:endParaRPr lang="en-IN" sz="32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D982E-5080-98C6-B2C6-19BEDF4FC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2492" y="1732448"/>
            <a:ext cx="5064665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:</a:t>
            </a:r>
          </a:p>
          <a:p>
            <a:pPr marL="0" indent="0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NumPy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3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694A-AFD6-5BE6-A41A-BF09EC81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3DD8D-9600-D003-EAE5-6DA8C467E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Tasks :</a:t>
            </a:r>
          </a:p>
          <a:p>
            <a:pPr marL="0" indent="0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encoding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84F9B-3E2F-58E5-985C-32C7573F3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37" y="2160636"/>
            <a:ext cx="2900522" cy="1801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7F358C-35BB-AA77-2221-B26AB0977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629" y="2160636"/>
            <a:ext cx="3008081" cy="1801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8CAE4B-123A-99A2-43B9-AC89D7C1B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737" y="4390587"/>
            <a:ext cx="2900522" cy="17526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9B6EBD-D7AF-39BB-C57D-13B4CF932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0629" y="4390586"/>
            <a:ext cx="3008081" cy="17526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93F165-D455-DD56-06E5-BDC27D368326}"/>
              </a:ext>
            </a:extLst>
          </p:cNvPr>
          <p:cNvSpPr txBox="1"/>
          <p:nvPr/>
        </p:nvSpPr>
        <p:spPr>
          <a:xfrm>
            <a:off x="5796114" y="3942735"/>
            <a:ext cx="212376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churn_distribution.png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100CE-7A97-BD76-080E-5AC28567254B}"/>
              </a:ext>
            </a:extLst>
          </p:cNvPr>
          <p:cNvSpPr txBox="1"/>
          <p:nvPr/>
        </p:nvSpPr>
        <p:spPr>
          <a:xfrm>
            <a:off x="8790629" y="3962400"/>
            <a:ext cx="30080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contract_vs_churn.png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03097-5AB6-86E3-EE87-CE8306865569}"/>
              </a:ext>
            </a:extLst>
          </p:cNvPr>
          <p:cNvSpPr txBox="1"/>
          <p:nvPr/>
        </p:nvSpPr>
        <p:spPr>
          <a:xfrm>
            <a:off x="5407737" y="6143191"/>
            <a:ext cx="2900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monthly_charges_churn.png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90DC1-DC63-05AD-D593-F0190905A2D2}"/>
              </a:ext>
            </a:extLst>
          </p:cNvPr>
          <p:cNvSpPr txBox="1"/>
          <p:nvPr/>
        </p:nvSpPr>
        <p:spPr>
          <a:xfrm>
            <a:off x="8790628" y="6143191"/>
            <a:ext cx="30080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correlation_heatmap.png</a:t>
            </a:r>
          </a:p>
        </p:txBody>
      </p:sp>
    </p:spTree>
    <p:extLst>
      <p:ext uri="{BB962C8B-B14F-4D97-AF65-F5344CB8AC3E}">
        <p14:creationId xmlns:p14="http://schemas.microsoft.com/office/powerpoint/2010/main" val="326762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BACD-8220-1DA3-6888-6B6C5441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35" y="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B2D85-160B-36F8-AFA4-22FBE88B3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EAAFA-FE31-13CA-9A9C-533E24FC4C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14D21-B6E2-80DB-E2D1-0385B37E8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C1A63-398D-F531-CA9A-1D833B7C7D8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80.27%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75.16%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79.99%</a:t>
            </a:r>
          </a:p>
        </p:txBody>
      </p:sp>
    </p:spTree>
    <p:extLst>
      <p:ext uri="{BB962C8B-B14F-4D97-AF65-F5344CB8AC3E}">
        <p14:creationId xmlns:p14="http://schemas.microsoft.com/office/powerpoint/2010/main" val="192744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BBC2-0A6C-9521-9208-2559499F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6310"/>
            <a:ext cx="10353762" cy="786582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Explainability (SHAP)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79B30E-FFEA-E2E9-50CF-7DD1E64C2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414" y="1216554"/>
            <a:ext cx="2755734" cy="199613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54A60-D05F-3880-C23D-39FFF44D9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707" y="2168738"/>
            <a:ext cx="2755735" cy="2300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E834C1-107D-AACE-1BC0-C32D46BFC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414" y="3892728"/>
            <a:ext cx="2755734" cy="23009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9425BD-596E-8DA8-71C5-ACEE888F40AF}"/>
              </a:ext>
            </a:extLst>
          </p:cNvPr>
          <p:cNvSpPr txBox="1"/>
          <p:nvPr/>
        </p:nvSpPr>
        <p:spPr>
          <a:xfrm>
            <a:off x="6045894" y="3278955"/>
            <a:ext cx="2642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Summary Plot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36D2EF-378C-9C2E-FB7B-30085A9ADB1F}"/>
              </a:ext>
            </a:extLst>
          </p:cNvPr>
          <p:cNvSpPr txBox="1"/>
          <p:nvPr/>
        </p:nvSpPr>
        <p:spPr>
          <a:xfrm>
            <a:off x="9028707" y="4590939"/>
            <a:ext cx="27557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Feature Importance 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59698-7B9E-F897-1D10-784FE7399A82}"/>
              </a:ext>
            </a:extLst>
          </p:cNvPr>
          <p:cNvSpPr txBox="1"/>
          <p:nvPr/>
        </p:nvSpPr>
        <p:spPr>
          <a:xfrm>
            <a:off x="6045894" y="6241580"/>
            <a:ext cx="25081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Waterfall Plot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B0298-EB94-F3A6-FF81-61531EA37F1C}"/>
              </a:ext>
            </a:extLst>
          </p:cNvPr>
          <p:cNvSpPr txBox="1"/>
          <p:nvPr/>
        </p:nvSpPr>
        <p:spPr>
          <a:xfrm>
            <a:off x="304800" y="1153516"/>
            <a:ext cx="540053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SHAP to explain machine learning predictions.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the top features affecting customer churn.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SHAP Summary Plot shows the overall feature impact. 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Plot explains individual customer predictions.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model transparency and business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5170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75F2-3131-159E-C7EA-DC0227C2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35" y="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45580-D581-FA23-ED30-E008970F4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3CAF8-DD27-500A-0AA4-66B13FEE43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90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Value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Risk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Customer</a:t>
            </a:r>
          </a:p>
          <a:p>
            <a:pPr marL="3690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9766C-CF9B-B9E1-BFC1-4277766087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FDDD6-0064-C4D3-A58B-B3E73F1567B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customers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customers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probability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customers</a:t>
            </a:r>
          </a:p>
          <a:p>
            <a:pPr marL="3690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 joined</a:t>
            </a:r>
          </a:p>
        </p:txBody>
      </p:sp>
    </p:spTree>
    <p:extLst>
      <p:ext uri="{BB962C8B-B14F-4D97-AF65-F5344CB8AC3E}">
        <p14:creationId xmlns:p14="http://schemas.microsoft.com/office/powerpoint/2010/main" val="355947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77340-7FA0-5E82-1C36-05A1721C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448" y="10280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89D9D-FC3E-1A84-EF9A-C59D7F8B1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02" y="1893697"/>
            <a:ext cx="3212779" cy="27372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39111-8616-346C-761B-1E35F258F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845" y="1893697"/>
            <a:ext cx="3342968" cy="273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FDC91F-55B4-1464-DCE8-B7F97EABD4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922" y="1893696"/>
            <a:ext cx="3382296" cy="27372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16A91A-DB98-EAA6-C7B3-8AF8EB51653D}"/>
              </a:ext>
            </a:extLst>
          </p:cNvPr>
          <p:cNvSpPr txBox="1"/>
          <p:nvPr/>
        </p:nvSpPr>
        <p:spPr>
          <a:xfrm>
            <a:off x="621801" y="4869115"/>
            <a:ext cx="32127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Dashboard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8AE64D-BE1F-6FB2-D945-70F8F62751B1}"/>
              </a:ext>
            </a:extLst>
          </p:cNvPr>
          <p:cNvSpPr txBox="1"/>
          <p:nvPr/>
        </p:nvSpPr>
        <p:spPr>
          <a:xfrm>
            <a:off x="4463845" y="4922976"/>
            <a:ext cx="334296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D14C3-3BE7-3C9B-601E-1AB46FB045E6}"/>
              </a:ext>
            </a:extLst>
          </p:cNvPr>
          <p:cNvSpPr txBox="1"/>
          <p:nvPr/>
        </p:nvSpPr>
        <p:spPr>
          <a:xfrm>
            <a:off x="8229598" y="4944641"/>
            <a:ext cx="371659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 Segmentation Dashboard</a:t>
            </a:r>
          </a:p>
        </p:txBody>
      </p:sp>
    </p:spTree>
    <p:extLst>
      <p:ext uri="{BB962C8B-B14F-4D97-AF65-F5344CB8AC3E}">
        <p14:creationId xmlns:p14="http://schemas.microsoft.com/office/powerpoint/2010/main" val="202452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E2CD-6BE5-01DA-863D-A90940D7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8826"/>
            <a:ext cx="10353762" cy="698090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66730-F317-F430-12FF-B28FEF13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98152"/>
            <a:ext cx="10353762" cy="5248454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Contract Type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customers have the highest churn.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💳 Payment Method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are more likely to churn.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Internet Service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customers show higher churn rates.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Monthly Charges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monthly charges increase churn risk. </a:t>
            </a:r>
          </a:p>
          <a:p>
            <a:pPr marL="3690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⏳ Tenure :</a:t>
            </a:r>
          </a:p>
          <a:p>
            <a:pPr marL="369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helps target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389072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283D-CC91-68B9-BD01-26558DD8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6350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FFD4C-0480-8BA5-B1FF-6CF8E2C51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5C5DE-BD43-729F-E8AE-C4160F06F9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loyalty rewards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long-term contracts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support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high-risk customers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service complaints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035D8-65A1-890C-D3FB-81959E2F0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59D2B-C555-BB57-52E0-9F3842880EE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Risk Score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</a:t>
            </a:r>
          </a:p>
        </p:txBody>
      </p:sp>
    </p:spTree>
    <p:extLst>
      <p:ext uri="{BB962C8B-B14F-4D97-AF65-F5344CB8AC3E}">
        <p14:creationId xmlns:p14="http://schemas.microsoft.com/office/powerpoint/2010/main" val="339840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4B2C-9FE0-ED90-7EDE-8EC1C6DB7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8826"/>
            <a:ext cx="10353762" cy="9704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E6A-59B2-480F-514C-DF61E752B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387193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:</a:t>
            </a:r>
          </a:p>
          <a:p>
            <a:pPr marL="36900" indent="0"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predicted telecom customer churn.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end-to-end analytics solution.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SQL, Python, Machine Learning, SHAP, and Power BI.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actionable business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business analytics skills.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64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D849-EB37-897B-54D1-101E1DBCD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2659728"/>
            <a:ext cx="10353763" cy="868004"/>
          </a:xfrm>
        </p:spPr>
        <p:txBody>
          <a:bodyPr>
            <a:norm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 You !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934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202</TotalTime>
  <Words>398</Words>
  <Application>Microsoft Office PowerPoint</Application>
  <PresentationFormat>Widescreen</PresentationFormat>
  <Paragraphs>128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Calisto MT</vt:lpstr>
      <vt:lpstr>Courier New</vt:lpstr>
      <vt:lpstr>Times New Roman</vt:lpstr>
      <vt:lpstr>Wingdings</vt:lpstr>
      <vt:lpstr>Wingdings 2</vt:lpstr>
      <vt:lpstr>Slate</vt:lpstr>
      <vt:lpstr>Telecom Customer Churn Analysis for Telecom Industry</vt:lpstr>
      <vt:lpstr>Objective    Predict customer churn and provide actionable business  recommendations to improve customer retention.</vt:lpstr>
      <vt:lpstr>Project Workflow</vt:lpstr>
      <vt:lpstr>Tools &amp; Technologies</vt:lpstr>
      <vt:lpstr>Data Preprocessing</vt:lpstr>
      <vt:lpstr>Machine Learning Models</vt:lpstr>
      <vt:lpstr>Model Explainability (SHAP) </vt:lpstr>
      <vt:lpstr>Customer Segmentation</vt:lpstr>
      <vt:lpstr>Power BI Dashboard</vt:lpstr>
      <vt:lpstr>Business Insights</vt:lpstr>
      <vt:lpstr>Recommendations</vt:lpstr>
      <vt:lpstr>Conclusion</vt:lpstr>
      <vt:lpstr>Thank 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mahalingam18102005@outlook.com</dc:creator>
  <cp:lastModifiedBy>fernando immanuvel</cp:lastModifiedBy>
  <cp:revision>12</cp:revision>
  <dcterms:created xsi:type="dcterms:W3CDTF">2026-06-29T16:25:55Z</dcterms:created>
  <dcterms:modified xsi:type="dcterms:W3CDTF">2026-09-28T08:34:08Z</dcterms:modified>
</cp:coreProperties>
</file>